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7" d="100"/>
          <a:sy n="67" d="100"/>
        </p:scale>
        <p:origin x="834" y="6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GB"/>
  <c:roundedCorners val="1"/>
  <c:style val="2"/>
  <c:chart>
    <c:autoTitleDeleted val="1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Disease Rules in medixai.db</c:v>
                </c:pt>
              </c:strCache>
            </c:strRef>
          </c:tx>
          <c:spPr>
            <a:solidFill>
              <a:srgbClr val="6B2D8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400" b="1">
                    <a:solidFill>
                      <a:srgbClr val="0F172A"/>
                    </a:solidFill>
                    <a:latin typeface="Inter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Sheet1!$A$2:$A$13</c:f>
              <c:strCache>
                <c:ptCount val="12"/>
                <c:pt idx="0">
                  <c:v>Hematological</c:v>
                </c:pt>
                <c:pt idx="1">
                  <c:v>Emergency</c:v>
                </c:pt>
                <c:pt idx="2">
                  <c:v>Bacterial</c:v>
                </c:pt>
                <c:pt idx="3">
                  <c:v>Urinary</c:v>
                </c:pt>
                <c:pt idx="4">
                  <c:v>Musculoskeletal</c:v>
                </c:pt>
                <c:pt idx="5">
                  <c:v>Cardiovascular</c:v>
                </c:pt>
                <c:pt idx="6">
                  <c:v>Endocrine</c:v>
                </c:pt>
                <c:pt idx="7">
                  <c:v>Skin</c:v>
                </c:pt>
                <c:pt idx="8">
                  <c:v>Neurological</c:v>
                </c:pt>
                <c:pt idx="9">
                  <c:v>Viral</c:v>
                </c:pt>
                <c:pt idx="10">
                  <c:v>Respiratory</c:v>
                </c:pt>
                <c:pt idx="11">
                  <c:v>Digestive</c:v>
                </c:pt>
              </c:strCache>
            </c:strRef>
          </c:cat>
          <c:val>
            <c:numRef>
              <c:f>Sheet1!$B$2:$B$13</c:f>
              <c:numCache>
                <c:formatCode>General</c:formatCode>
                <c:ptCount val="12"/>
                <c:pt idx="0">
                  <c:v>4</c:v>
                </c:pt>
                <c:pt idx="1">
                  <c:v>5</c:v>
                </c:pt>
                <c:pt idx="2">
                  <c:v>6</c:v>
                </c:pt>
                <c:pt idx="3">
                  <c:v>7</c:v>
                </c:pt>
                <c:pt idx="4">
                  <c:v>7</c:v>
                </c:pt>
                <c:pt idx="5">
                  <c:v>8</c:v>
                </c:pt>
                <c:pt idx="6">
                  <c:v>8</c:v>
                </c:pt>
                <c:pt idx="7">
                  <c:v>8</c:v>
                </c:pt>
                <c:pt idx="8">
                  <c:v>10</c:v>
                </c:pt>
                <c:pt idx="9">
                  <c:v>10</c:v>
                </c:pt>
                <c:pt idx="10">
                  <c:v>12</c:v>
                </c:pt>
                <c:pt idx="11">
                  <c:v>13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255-4854-A9AD-A99FE07E656A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0F172A"/>
                </a:solidFill>
                <a:latin typeface="Inter"/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1400">
                <a:solidFill>
                  <a:srgbClr val="475569"/>
                </a:solidFill>
                <a:latin typeface="Inter"/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10/19/2026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3F3F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3" name="Picture 2" descr="cropped_slide1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  <a:ln>
            <a:noFill/>
          </a:ln>
        </p:spPr>
      </p:pic>
      <p:sp>
        <p:nvSpPr>
          <p:cNvPr id="4" name="Rectangle 3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>
              <a:alpha val="2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2286000" y="1444752"/>
            <a:ext cx="7619695" cy="5029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2400" b="1">
                <a:solidFill>
                  <a:srgbClr val="C00000"/>
                </a:solidFill>
                <a:latin typeface="Inter Display"/>
              </a:rPr>
              <a:t>WEB PROGRAMMING CS23531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371600" y="2176272"/>
            <a:ext cx="9448495" cy="47548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1800" b="1">
                <a:solidFill>
                  <a:srgbClr val="0F172A"/>
                </a:solidFill>
                <a:latin typeface="Inter"/>
              </a:rPr>
              <a:t>Full-Stack Explainable Rule-Based Clinical Decision Support System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9997135" cy="11887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ctr"/>
            <a:r>
              <a:rPr sz="4400" b="1">
                <a:solidFill>
                  <a:srgbClr val="6B2D8B"/>
                </a:solidFill>
                <a:latin typeface="Inter Display"/>
              </a:rPr>
              <a:t>MEDIXAI: Explainable Expert System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0" y="5166360"/>
            <a:ext cx="4480560" cy="677108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/>
            <a:r>
              <a:rPr sz="2200" b="1" dirty="0">
                <a:solidFill>
                  <a:srgbClr val="EE0000"/>
                </a:solidFill>
                <a:latin typeface="Inter Display"/>
              </a:rPr>
              <a:t>Nishanth Elango Rajan</a:t>
            </a:r>
            <a:r>
              <a:rPr lang="en-US" sz="2200" b="1" dirty="0">
                <a:solidFill>
                  <a:srgbClr val="EE0000"/>
                </a:solidFill>
                <a:latin typeface="Inter Display"/>
              </a:rPr>
              <a:t>	</a:t>
            </a:r>
            <a:r>
              <a:rPr sz="2200" b="1" dirty="0">
                <a:solidFill>
                  <a:srgbClr val="EE0000"/>
                </a:solidFill>
                <a:latin typeface="Inter Display"/>
              </a:rPr>
              <a:t>241901075</a:t>
            </a:r>
            <a:br>
              <a:rPr lang="en-US" sz="2200" b="1" dirty="0">
                <a:solidFill>
                  <a:srgbClr val="EE0000"/>
                </a:solidFill>
                <a:latin typeface="Inter Display"/>
              </a:rPr>
            </a:br>
            <a:r>
              <a:rPr lang="en-US" sz="2200" b="1" dirty="0">
                <a:solidFill>
                  <a:srgbClr val="EE0000"/>
                </a:solidFill>
                <a:latin typeface="Inter Display"/>
              </a:rPr>
              <a:t>Naveen Raj P			241901070</a:t>
            </a:r>
            <a:endParaRPr sz="2200" b="1" dirty="0">
              <a:solidFill>
                <a:srgbClr val="EE0000"/>
              </a:solidFill>
              <a:latin typeface="Inter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Inter"/>
              </a:rPr>
              <a:t>ABOUT THE PROJECT · SYSTEM OVERVIEW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MEDIXAI Connects Symptom Facts to Transparent Clinical Rules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57400"/>
            <a:ext cx="330098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4800" b="1">
                <a:solidFill>
                  <a:srgbClr val="6B2D8B"/>
                </a:solidFill>
                <a:latin typeface="Inter Display"/>
              </a:rPr>
              <a:t>98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Inter Display"/>
              </a:rPr>
              <a:t>Clinical Disease Rules</a:t>
            </a:r>
          </a:p>
          <a:p>
            <a:r>
              <a:rPr sz="1500">
                <a:solidFill>
                  <a:srgbClr val="475569"/>
                </a:solidFill>
                <a:latin typeface="Inter"/>
              </a:rPr>
              <a:t>Spanning 12 medical specialties in medixai.db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3983" y="2057400"/>
            <a:ext cx="330098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4800" b="1">
                <a:solidFill>
                  <a:srgbClr val="C00000"/>
                </a:solidFill>
                <a:latin typeface="Inter Display"/>
              </a:rPr>
              <a:t>397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Inter Display"/>
              </a:rPr>
              <a:t>Distinct Symptom Facts</a:t>
            </a:r>
          </a:p>
          <a:p>
            <a:r>
              <a:rPr sz="1500">
                <a:solidFill>
                  <a:srgbClr val="475569"/>
                </a:solidFill>
                <a:latin typeface="Inter"/>
              </a:rPr>
              <a:t>639 weighted links and 236 required premises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2057400"/>
            <a:ext cx="3300984" cy="1691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200"/>
              </a:spcAft>
            </a:pPr>
            <a:r>
              <a:rPr sz="4800" b="1">
                <a:solidFill>
                  <a:srgbClr val="1D4ED8"/>
                </a:solidFill>
                <a:latin typeface="Inter Display"/>
              </a:rPr>
              <a:t>100%</a:t>
            </a:r>
          </a:p>
          <a:p>
            <a:pPr>
              <a:spcAft>
                <a:spcPts val="400"/>
              </a:spcAft>
            </a:pPr>
            <a:r>
              <a:rPr sz="2000" b="1">
                <a:solidFill>
                  <a:srgbClr val="0F172A"/>
                </a:solidFill>
                <a:latin typeface="Inter Display"/>
              </a:rPr>
              <a:t>Explainable Reasoning</a:t>
            </a:r>
          </a:p>
          <a:p>
            <a:r>
              <a:rPr sz="1500">
                <a:solidFill>
                  <a:srgbClr val="475569"/>
                </a:solidFill>
                <a:latin typeface="Inter"/>
              </a:rPr>
              <a:t>Zero black-box weights; full logical trace output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3977639"/>
            <a:ext cx="330098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6B2D8B"/>
                </a:solidFill>
                <a:latin typeface="Inter Display"/>
              </a:rPr>
              <a:t>Problem Addressed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Black-box clinical tools hide how symptoms map to conditions; MEDIXAI exposes every rule weight, required premise, and precaution.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43983" y="3977639"/>
            <a:ext cx="330098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C00000"/>
                </a:solidFill>
                <a:latin typeface="Inter Display"/>
              </a:rPr>
              <a:t>Live Knowledge Expansion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Users can add new diseases, weighted symptoms, and contradiction rules directly from the browser into the SQLite database.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56448" y="3977639"/>
            <a:ext cx="3300984" cy="210312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D4ED8"/>
                </a:solidFill>
                <a:latin typeface="Inter Display"/>
              </a:rPr>
              <a:t>Hybrid Offline Resilience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Synchronizes automatically with SQLite (medixai.db) when online and falls back to browser LocalStorage (38 core rules) when offline.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Inter"/>
              </a:rPr>
              <a:t>HOW IT WORKS · RULE EVALUATION WORKFLOW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Four-Stage Inference Pipeline Evaluates and Verifies Rules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2450592" cy="196596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240280"/>
            <a:ext cx="204825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6B2D8B"/>
                </a:solidFill>
                <a:latin typeface="Inter"/>
              </a:rPr>
              <a:t>STAGE 01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Fact Selection</a:t>
            </a:r>
          </a:p>
          <a:p>
            <a:r>
              <a:rPr sz="1400">
                <a:solidFill>
                  <a:srgbClr val="475569"/>
                </a:solidFill>
                <a:latin typeface="Inter"/>
              </a:rPr>
              <a:t>Search 397 symptoms into the active facts Set.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0264" y="2057400"/>
            <a:ext cx="2450592" cy="196596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91432" y="2240280"/>
            <a:ext cx="204825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Inter"/>
              </a:rPr>
              <a:t>STAGE 02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Safety Gate</a:t>
            </a:r>
          </a:p>
          <a:p>
            <a:r>
              <a:rPr sz="1400">
                <a:solidFill>
                  <a:srgbClr val="475569"/>
                </a:solidFill>
                <a:latin typeface="Inter"/>
              </a:rPr>
              <a:t>Block 7 conflict pairs and flag 19 urgent signs.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9009" y="2057400"/>
            <a:ext cx="2450592" cy="196596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0177" y="2240280"/>
            <a:ext cx="204825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Inter"/>
              </a:rPr>
              <a:t>STAGE 03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Forward Score</a:t>
            </a:r>
          </a:p>
          <a:p>
            <a:r>
              <a:rPr sz="1400">
                <a:solidFill>
                  <a:srgbClr val="475569"/>
                </a:solidFill>
                <a:latin typeface="Inter"/>
              </a:rPr>
              <a:t>Rank 98 rules by matched weight ratio.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7754" y="2057400"/>
            <a:ext cx="2450592" cy="196596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08922" y="2240280"/>
            <a:ext cx="204825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Inter"/>
              </a:rPr>
              <a:t>STAGE 04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Backward Check</a:t>
            </a:r>
          </a:p>
          <a:p>
            <a:r>
              <a:rPr sz="1400">
                <a:solidFill>
                  <a:srgbClr val="475569"/>
                </a:solidFill>
                <a:latin typeface="Inter"/>
              </a:rPr>
              <a:t>Test unknown premises via Yes/No/Unsure.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1206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6B2D8B"/>
                </a:solidFill>
                <a:latin typeface="Inter Display"/>
              </a:rPr>
              <a:t>Forward Scoring Formula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Base Score = 100 × (Matched Weight / Total Rule Weight). If any required premise is missing, Score = Base Score × 0.60.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9535" y="4297680"/>
            <a:ext cx="51206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D4ED8"/>
                </a:solidFill>
                <a:latin typeface="Inter Display"/>
              </a:rPr>
              <a:t>Tri-State Fact Representation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Tracks Present (facts Set), Explicitly Absent (absent Set), and Unknown (unselected) facts to block disproved rules.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Inter"/>
              </a:rPr>
              <a:t>HOW IT WORKS · KNOWLEDGE BASE &amp; SAFETY GUARDRAILS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98 Clinical Rules Span 12 Specialties and 4 Triage Severity Tiers</a:t>
            </a:r>
          </a:p>
        </p:txBody>
      </p:sp>
      <p:graphicFrame>
        <p:nvGraphicFramePr>
          <p:cNvPr id="5" name="Chart 4"/>
          <p:cNvGraphicFramePr>
            <a:graphicFrameLocks noGrp="1"/>
          </p:cNvGraphicFramePr>
          <p:nvPr/>
        </p:nvGraphicFramePr>
        <p:xfrm>
          <a:off x="731520" y="2057400"/>
          <a:ext cx="6217920" cy="40690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0" y="2057400"/>
            <a:ext cx="4144975" cy="402336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900" b="1">
                <a:solidFill>
                  <a:srgbClr val="C00000"/>
                </a:solidFill>
                <a:latin typeface="Inter Display"/>
              </a:rPr>
              <a:t>Severity Stratification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Classifies rules into Moderate (43), Serious (26), Emergency (15), and Low (14) tiers.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6B2D8B"/>
                </a:solidFill>
                <a:latin typeface="Inter Display"/>
              </a:rPr>
              <a:t>34 Urgent Triage Flags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34.7% of rules carry emergency=1, displaying immediate clinical escalation warnings.</a:t>
            </a:r>
          </a:p>
          <a:p>
            <a:pPr algn="l">
              <a:spcAft>
                <a:spcPts val="300"/>
              </a:spcAft>
            </a:pPr>
            <a:r>
              <a:rPr sz="1900" b="1">
                <a:solidFill>
                  <a:srgbClr val="1D4ED8"/>
                </a:solidFill>
                <a:latin typeface="Inter Display"/>
              </a:rPr>
              <a:t>High Premise Density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639 weighted links average 6.52 symptoms and 2.41 required premises per disease rule.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Inter"/>
              </a:rPr>
              <a:t>WEB ARCHITECTURE &amp; DOCUMENT STRUCTURE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Semantic HTML5 Landmarks and HTTP Routing Structure the App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300984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6B2D8B"/>
                </a:solidFill>
                <a:latin typeface="Inter Display"/>
              </a:rPr>
              <a:t>Web vs. App Server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Static Web Serving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Delivers index.html over HTTP on port 8000 (http://localhost:8000/) via GET requests.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Dynamic Application API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Processes JSON state queries and rule mutations on /api/* routes with CORS headers.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3983" y="2011680"/>
            <a:ext cx="3300984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C00000"/>
                </a:solidFill>
                <a:latin typeface="Inter Display"/>
              </a:rPr>
              <a:t>Semantic HTML5 Tags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Page Landmarks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Uses &lt;header&gt;, &lt;nav&gt;, &lt;main&gt;, &lt;aside&gt;, and &lt;footer&gt; for clean document hierarchy.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Content Containers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Structures workspace panels with &lt;section&gt; and individual rule cards with &lt;article&gt;.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2011680"/>
            <a:ext cx="3300984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D4ED8"/>
                </a:solidFill>
                <a:latin typeface="Inter Display"/>
              </a:rPr>
              <a:t>Native Disclosure &amp; Lists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Expandable &lt;details&gt;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Pairs &lt;details&gt; and &lt;summary&gt; tags for zero-JS collapsible clinical guidance drawers.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Accessible ARIA Roles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Combines role='tablist', role='tab', role='tabpanel', and aria-live='polite' regions.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Inter"/>
              </a:rPr>
              <a:t>CASCADING STYLE SHEETS &amp; LAYOUT ENGINE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CSS Custom Properties, Box Model, and Grid Power the Dark UI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2011680"/>
            <a:ext cx="3300984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6B2D8B"/>
                </a:solidFill>
                <a:latin typeface="Inter Display"/>
              </a:rPr>
              <a:t>CSS Variables &amp; Typography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:root Design Tokens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Defines --bg (#191919), --card (#202020), --accent (#70b2fa), --green, and --red.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Font &amp; Line-Height Rules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Sets 16px/1.5 system sans-serif stack, -1px h1 letter-spacing, and Consolas code blocks.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43983" y="2011680"/>
            <a:ext cx="3300984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C00000"/>
                </a:solidFill>
                <a:latin typeface="Inter Display"/>
              </a:rPr>
              <a:t>Box Model &amp; Selectors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Element Box Sizing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Applies universal box-sizing: border-box, 24px card padding, and 1px solid #555 borders.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Relational Selectors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Uses .symptom-item:has(input:checked), [hidden], and :focus-visible 3px outlines.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56448" y="2011680"/>
            <a:ext cx="3300984" cy="4069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1400"/>
              </a:spcAft>
            </a:pPr>
            <a:r>
              <a:rPr sz="2200" b="1">
                <a:solidFill>
                  <a:srgbClr val="1D4ED8"/>
                </a:solidFill>
                <a:latin typeface="Inter Display"/>
              </a:rPr>
              <a:t>Grid &amp; Flexbox Layouts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Multi-Column CSS Grid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Uses grid-template-columns: 1.05fr 1fr for workspace and repeat(3, 1fr) for KB cards.</a:t>
            </a:r>
          </a:p>
          <a:p>
            <a:pPr algn="l">
              <a:spcAft>
                <a:spcPts val="3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Flexbox &amp; Media Queries</a:t>
            </a:r>
          </a:p>
          <a:p>
            <a:pPr algn="l">
              <a:spcAft>
                <a:spcPts val="14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Aligns toolbars and chips with display: flex, collapsing to 1fr below 760px width.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Inter"/>
              </a:rPr>
              <a:t>CLIENT-SIDE PROGRAMMING &amp; DOM INTERACTIVITY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Event-Driven JavaScript Manipulates DOM and Form Controls Live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57400"/>
          <a:ext cx="10728655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317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6060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659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8249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Form Control / UI Element</a:t>
                      </a:r>
                    </a:p>
                  </a:txBody>
                  <a:tcPr marL="109728" marR="109728" marT="54864" marB="54864" anchor="ctr"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HTML Element &amp; Attributes</a:t>
                      </a:r>
                    </a:p>
                  </a:txBody>
                  <a:tcPr marL="109728" marR="109728" marT="54864" marB="54864" anchor="ctr"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DOM Event Listener</a:t>
                      </a:r>
                    </a:p>
                  </a:txBody>
                  <a:tcPr marL="109728" marR="109728" marT="54864" marB="54864" anchor="ctr"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JavaScript Handler &amp; Data Logic</a:t>
                      </a:r>
                    </a:p>
                  </a:txBody>
                  <a:tcPr marL="109728" marR="109728" marT="54864" marB="54864" anchor="ctr">
                    <a:solidFill>
                      <a:srgbClr val="6B2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 Display"/>
                        </a:rPr>
                        <a:t>Symptom Search &amp; Filter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&lt;input type='search'&gt;, &lt;select&gt;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input, change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Filters getAllSymptoms() array by substring and disease category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 Display"/>
                        </a:rPr>
                        <a:t>Symptom Fact Checkboxes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&lt;input type='checkbox' value='...'&gt;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change (delegated)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Updates ES6 Set objects (facts.add/delete) and calls renderFacts()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 Display"/>
                        </a:rPr>
                        <a:t>Backward Premise Buttons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&lt;button data-answer data-value&gt;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click (on #results)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Toggles Yes/No/Unsure premise state and re-runs evaluate()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 Display"/>
                        </a:rPr>
                        <a:t>Disease &amp; Symptom Forms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&lt;form&gt;, &lt;textarea&gt;, &lt;datalist&gt;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submit (preventDefault)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Splits 'symptom:weight' pairs, clamps [1,10], POSTs JSON to API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 Display"/>
                        </a:rPr>
                        <a:t>Workspace Navigation Tabs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&lt;button role='tab' aria-selected&gt;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click, keydown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Handles ArrowLeft/Right/Home/End keys and toggles [hidden] panels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23560"/>
            <a:ext cx="10728655" cy="5486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C00000"/>
                </a:solidFill>
                <a:latin typeface="Inter Display"/>
              </a:rPr>
              <a:t>DOM Security &amp; Dynamic Rendering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475569"/>
                </a:solidFill>
                <a:latin typeface="Inter"/>
              </a:rPr>
              <a:t>All dynamic HTML strings pass through the esc() regex sanitizer (&amp;, &lt;, &gt;, ", ') before innerHTML injection to prevent XSS.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Inter"/>
              </a:rPr>
              <a:t>SERVER-SIDE SCRIPTING &amp; DATABASE CONNECTIVITY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Server-Side Request Handlers Persist Rules in Normalized SQLite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731520" y="2057400"/>
          <a:ext cx="10728655" cy="3429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144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2316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8308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REST Endpoint &amp; Method</a:t>
                      </a:r>
                    </a:p>
                  </a:txBody>
                  <a:tcPr marL="109728" marR="109728" marT="54864" marB="54864" anchor="ctr"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Server-Side Processing Logic</a:t>
                      </a:r>
                    </a:p>
                  </a:txBody>
                  <a:tcPr marL="109728" marR="109728" marT="54864" marB="54864" anchor="ctr"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Target SQLite Table(s)</a:t>
                      </a:r>
                    </a:p>
                  </a:txBody>
                  <a:tcPr marL="109728" marR="109728" marT="54864" marB="54864" anchor="ctr">
                    <a:solidFill>
                      <a:srgbClr val="6B2D8B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500" b="1">
                          <a:solidFill>
                            <a:srgbClr val="F8FAFC"/>
                          </a:solidFill>
                          <a:latin typeface="Inter Display"/>
                        </a:rPr>
                        <a:t>Live Records</a:t>
                      </a:r>
                    </a:p>
                  </a:txBody>
                  <a:tcPr marL="109728" marR="109728" marT="54864" marB="54864" anchor="ctr">
                    <a:solidFill>
                      <a:srgbClr val="6B2D8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 Display"/>
                        </a:rPr>
                        <a:t>GET /api/state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Executes SELECT queries across all 5 tables and serializes JSON state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All 5 relational tables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98 rules / 397 facts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 Display"/>
                        </a:rPr>
                        <a:t>POST /api/diseases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Validates fields, normalizes snake_case keys, clamps weights 1–10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diseases, disease_symptoms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98 / 639 links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 Display"/>
                        </a:rPr>
                        <a:t>POST /api/symptoms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Trims strings, sets warning_flag (0/1), runs INSERT OR REPLACE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symptoms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397 (17 red-flag)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 Display"/>
                        </a:rPr>
                        <a:t>POST /api/contradictions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Ensures symptom_a != symptom_b and inserts conflict rule pair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contradictions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7 pairs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71500">
                <a:tc>
                  <a:txBody>
                    <a:bodyPr/>
                    <a:lstStyle/>
                    <a:p>
                      <a:pPr algn="l"/>
                      <a:r>
                        <a:rPr sz="1400" b="1">
                          <a:solidFill>
                            <a:srgbClr val="0F172A"/>
                          </a:solidFill>
                          <a:latin typeface="Inter Display"/>
                        </a:rPr>
                        <a:t>POST &amp; DELETE /api/logs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Timestamps JSON fact arrays (datetime.now) or truncates history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evaluation_logs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tc>
                  <a:txBody>
                    <a:bodyPr/>
                    <a:lstStyle/>
                    <a:p>
                      <a:pPr algn="r"/>
                      <a:r>
                        <a:rPr sz="1400" b="0">
                          <a:solidFill>
                            <a:srgbClr val="0F172A"/>
                          </a:solidFill>
                          <a:latin typeface="Inter"/>
                        </a:rPr>
                        <a:t>Latest 25 returned</a:t>
                      </a:r>
                    </a:p>
                  </a:txBody>
                  <a:tcPr marL="109728" marR="109728" marT="54864" marB="54864" anchor="ctr">
                    <a:solidFill>
                      <a:srgbClr val="E2E8F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731520" y="5623560"/>
            <a:ext cx="10728655" cy="548640"/>
          </a:xfrm>
          <a:prstGeom prst="rect">
            <a:avLst/>
          </a:prstGeom>
          <a:noFill/>
        </p:spPr>
        <p:txBody>
          <a:bodyPr wrap="square" lIns="0" t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D4ED8"/>
                </a:solidFill>
                <a:latin typeface="Inter Display"/>
              </a:rPr>
              <a:t>Relational Integrity &amp; Parameterized Queries</a:t>
            </a:r>
          </a:p>
          <a:p>
            <a:pPr algn="l">
              <a:spcAft>
                <a:spcPts val="200"/>
              </a:spcAft>
            </a:pPr>
            <a:r>
              <a:rPr sz="1400">
                <a:solidFill>
                  <a:srgbClr val="475569"/>
                </a:solidFill>
                <a:latin typeface="Inter"/>
              </a:rPr>
              <a:t>Uses parameterized SQL placeholders (?) to prevent SQL injection and ON DELETE CASCADE foreign keys to prevent orphan weights.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91440"/>
          </a:xfrm>
          <a:prstGeom prst="rect">
            <a:avLst/>
          </a:prstGeom>
          <a:solidFill>
            <a:srgbClr val="6B2D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731520" y="457200"/>
            <a:ext cx="10728655" cy="13258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Inter"/>
              </a:rPr>
              <a:t>COMPONENT ARCHITECTURE · REACTIVE STATE &amp; ROUTING</a:t>
            </a:r>
          </a:p>
          <a:p>
            <a:pPr algn="l"/>
            <a:r>
              <a:rPr sz="3200" b="1">
                <a:solidFill>
                  <a:srgbClr val="0F172A"/>
                </a:solidFill>
                <a:latin typeface="Inter Display"/>
              </a:rPr>
              <a:t>Unidirectional State Dataflow Synchronizes Views Without Reloads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057400"/>
            <a:ext cx="2450592" cy="196596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32688" y="2240280"/>
            <a:ext cx="204825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6B2D8B"/>
                </a:solidFill>
                <a:latin typeface="Inter"/>
              </a:rPr>
              <a:t>STEP 01 · MOUNT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loadState() Init</a:t>
            </a:r>
          </a:p>
          <a:p>
            <a:r>
              <a:rPr sz="1400">
                <a:solidFill>
                  <a:srgbClr val="475569"/>
                </a:solidFill>
                <a:latin typeface="Inter"/>
              </a:rPr>
              <a:t>Fetch /api/state or hydrate from LocalStorage.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90264" y="2057400"/>
            <a:ext cx="2450592" cy="196596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91432" y="2240280"/>
            <a:ext cx="204825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C00000"/>
                </a:solidFill>
                <a:latin typeface="Inter"/>
              </a:rPr>
              <a:t>STEP 02 · STORE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Reactive State</a:t>
            </a:r>
          </a:p>
          <a:p>
            <a:r>
              <a:rPr sz="1400">
                <a:solidFill>
                  <a:srgbClr val="475569"/>
                </a:solidFill>
                <a:latin typeface="Inter"/>
              </a:rPr>
              <a:t>Hold KB, symptomsMeta, facts, and absent Sets.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49009" y="2057400"/>
            <a:ext cx="2450592" cy="196596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450177" y="2240280"/>
            <a:ext cx="204825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1D4ED8"/>
                </a:solidFill>
                <a:latin typeface="Inter"/>
              </a:rPr>
              <a:t>STEP 03 · RENDER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Pure View Sync</a:t>
            </a:r>
          </a:p>
          <a:p>
            <a:r>
              <a:rPr sz="1400">
                <a:solidFill>
                  <a:srgbClr val="475569"/>
                </a:solidFill>
                <a:latin typeface="Inter"/>
              </a:rPr>
              <a:t>Rebuild DOM via renderFacts() and renderKB().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9007754" y="2057400"/>
            <a:ext cx="2450592" cy="1965960"/>
          </a:xfrm>
          <a:prstGeom prst="roundRect">
            <a:avLst>
              <a:gd name="adj" fmla="val 6000"/>
            </a:avLst>
          </a:prstGeom>
          <a:solidFill>
            <a:srgbClr val="F3E8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9208922" y="2240280"/>
            <a:ext cx="2048256" cy="160020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Aft>
                <a:spcPts val="400"/>
              </a:spcAft>
            </a:pPr>
            <a:r>
              <a:rPr sz="1400" b="1">
                <a:solidFill>
                  <a:srgbClr val="0F766E"/>
                </a:solidFill>
                <a:latin typeface="Inter"/>
              </a:rPr>
              <a:t>STEP 04 · ROUTE</a:t>
            </a:r>
          </a:p>
          <a:p>
            <a:pPr>
              <a:spcAft>
                <a:spcPts val="600"/>
              </a:spcAft>
            </a:pPr>
            <a:r>
              <a:rPr sz="1800" b="1">
                <a:solidFill>
                  <a:srgbClr val="0F172A"/>
                </a:solidFill>
                <a:latin typeface="Inter Display"/>
              </a:rPr>
              <a:t>Event &amp; Tab Sync</a:t>
            </a:r>
          </a:p>
          <a:p>
            <a:r>
              <a:rPr sz="1400">
                <a:solidFill>
                  <a:srgbClr val="475569"/>
                </a:solidFill>
                <a:latin typeface="Inter"/>
              </a:rPr>
              <a:t>Dispatch API updates and switch views live.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297680"/>
            <a:ext cx="51206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6B2D8B"/>
                </a:solidFill>
                <a:latin typeface="Inter Display"/>
              </a:rPr>
              <a:t>Props-Like Data Passing &amp; Validation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getSymptomAnalytics(s) computes derived props (linked rules, max/avg weight, conflict flags), while form handlers validate required inputs before state mutation.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39535" y="4297680"/>
            <a:ext cx="5120640" cy="17830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 algn="l">
              <a:spcAft>
                <a:spcPts val="300"/>
              </a:spcAft>
            </a:pPr>
            <a:r>
              <a:rPr sz="2000" b="1">
                <a:solidFill>
                  <a:srgbClr val="1D4ED8"/>
                </a:solidFill>
                <a:latin typeface="Inter Display"/>
              </a:rPr>
              <a:t>Client-Side Routing &amp; Git Deployment</a:t>
            </a:r>
          </a:p>
          <a:p>
            <a:pPr algn="l">
              <a:spcAft>
                <a:spcPts val="800"/>
              </a:spcAft>
            </a:pPr>
            <a:r>
              <a:rPr sz="1500">
                <a:solidFill>
                  <a:srgbClr val="475569"/>
                </a:solidFill>
                <a:latin typeface="Inter"/>
              </a:rPr>
              <a:t>showTab(id) switches workspace views instantaneously without full page reloads, and the self-contained codebase deploys via Git and Python in a single command.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1190</Words>
  <Application>Microsoft Office PowerPoint</Application>
  <PresentationFormat>Widescreen</PresentationFormat>
  <Paragraphs>155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Calibri</vt:lpstr>
      <vt:lpstr>Inter</vt:lpstr>
      <vt:lpstr>Inter Display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subject/>
  <dc:creator/>
  <cp:keywords/>
  <dc:description>generated using python-pptx</dc:description>
  <cp:lastModifiedBy>Nishanth</cp:lastModifiedBy>
  <cp:revision>3</cp:revision>
  <dcterms:created xsi:type="dcterms:W3CDTF">2013-01-27T09:14:16Z</dcterms:created>
  <dcterms:modified xsi:type="dcterms:W3CDTF">2026-10-19T14:31:44Z</dcterms:modified>
  <cp:category/>
</cp:coreProperties>
</file>